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3840480" cy="3840480"/>
          </a:xfrm>
          <a:prstGeom prst="ellipse">
            <a:avLst/>
          </a:prstGeom>
          <a:solidFill>
            <a:srgbClr val="047857">
              <a:alpha val="10000"/>
            </a:srgbClr>
          </a:solidFill>
          <a:ln w="12700">
            <a:solidFill>
              <a:srgbClr val="047857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274320"/>
            <a:ext cx="2560320" cy="2560320"/>
          </a:xfrm>
          <a:prstGeom prst="ellipse">
            <a:avLst/>
          </a:prstGeom>
          <a:solidFill>
            <a:srgbClr val="047857">
              <a:alpha val="18000"/>
            </a:srgbClr>
          </a:solidFill>
          <a:ln w="12700">
            <a:solidFill>
              <a:srgbClr val="6EE7B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04672"/>
            <a:ext cx="64008" cy="2926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804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PORTFOLIO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Assistant RAG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Intelligence Engine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99923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any local document. Ask anything. Get grounded answers with source references.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1A2F"/>
          </a:solidFill>
          <a:ln w="12700">
            <a:solidFill>
              <a:srgbClr val="071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709160"/>
            <a:ext cx="8229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LangChain  ·  OpenAI GPT-4o-mini  ·  FAISS  ·  HuggingFace Embeddings  ·  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0" y="1234440"/>
            <a:ext cx="1463040" cy="1463040"/>
          </a:xfrm>
          <a:prstGeom prst="ellipse">
            <a:avLst/>
          </a:prstGeom>
          <a:solidFill>
            <a:srgbClr val="047857">
              <a:alpha val="30000"/>
            </a:srgbClr>
          </a:solidFill>
          <a:ln w="12700">
            <a:solidFill>
              <a:srgbClr val="6EE7B7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2344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&amp; enterprise documents remain </a:t>
            </a:r>
            <a:pPr algn="l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locked, unsearchable, and siloed.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project unlocks them.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212848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12848"/>
            <a:ext cx="265176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75488" y="32186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Types Supported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DOCX, XLSX, CSV, TXT)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2212848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221284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331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37560" y="32186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Index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 Semantic Search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2212848"/>
            <a:ext cx="26517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2212848"/>
            <a:ext cx="26517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331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99632" y="3218688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Source References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your documents. Get answers grounded in your data — never hallucinated.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0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39319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69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" y="1472184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72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142646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scattered across PDF, Word, Excel, CSV, TXT 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2185416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" y="21396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 is slow and misses semantic context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" y="289864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898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28529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way to query across file types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36118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" y="35661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waste hours hunting for answers already in their files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841248"/>
            <a:ext cx="3931920" cy="3977640"/>
          </a:xfrm>
          <a:prstGeom prst="rect">
            <a:avLst/>
          </a:prstGeom>
          <a:solidFill>
            <a:srgbClr val="0A2342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841248"/>
            <a:ext cx="393192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969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92624" y="1472184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92624" y="14721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58384" y="142646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ingest any local folder — all supported file types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92624" y="2185416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185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58384" y="21396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embed documents using all-MiniLM-L6-v2 (local, free)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92624" y="2898648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2898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58384" y="28529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enables millisecond semantic retrieval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92624" y="3611880"/>
            <a:ext cx="274320" cy="27432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92624" y="3611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58384" y="35661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answers strictly from retrieved context — with citations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15968" y="2606040"/>
            <a:ext cx="512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47857"/>
                </a:solidFill>
              </a:rPr>
              <a:t>-&gt;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005840" cy="1920240"/>
          </a:xfrm>
          <a:prstGeom prst="rect">
            <a:avLst/>
          </a:prstGeom>
          <a:solidFill>
            <a:srgbClr val="047857">
              <a:alpha val="18000"/>
            </a:srgbClr>
          </a:solidFill>
          <a:ln w="12700">
            <a:solidFill>
              <a:srgbClr val="04785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005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2907792"/>
            <a:ext cx="1005840" cy="192024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907792"/>
            <a:ext cx="1005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44752" y="84124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4752" y="841248"/>
            <a:ext cx="166420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969264"/>
            <a:ext cx="676656" cy="676656"/>
          </a:xfrm>
          <a:prstGeom prst="ellipse">
            <a:avLst/>
          </a:prstGeom>
          <a:solidFill>
            <a:srgbClr val="047857">
              <a:alpha val="22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96926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44752" y="1719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4752" y="20848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XLSX/CSV/TXT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160020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84124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841248"/>
            <a:ext cx="166420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31336" y="969264"/>
            <a:ext cx="676656" cy="676656"/>
          </a:xfrm>
          <a:prstGeom prst="ellipse">
            <a:avLst/>
          </a:prstGeom>
          <a:solidFill>
            <a:srgbClr val="047857">
              <a:alpha val="22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96926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1719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0848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TextSplitter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01768" y="160020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-&gt;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230368" y="84124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0368" y="841248"/>
            <a:ext cx="1664208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24144" y="969264"/>
            <a:ext cx="676656" cy="676656"/>
          </a:xfrm>
          <a:prstGeom prst="ellipse">
            <a:avLst/>
          </a:prstGeom>
          <a:solidFill>
            <a:srgbClr val="047857">
              <a:alpha val="22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24144" y="96926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0368" y="1719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20848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(HuggingFace)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94576" y="160020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47857"/>
                </a:solidFill>
              </a:rPr>
              <a:t>-&gt;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23176" y="84124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23176" y="841248"/>
            <a:ext cx="166420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6952" y="969264"/>
            <a:ext cx="676656" cy="676656"/>
          </a:xfrm>
          <a:prstGeom prst="ellipse">
            <a:avLst/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96926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23176" y="17190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23176" y="208483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444752" y="294436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44752" y="2944368"/>
            <a:ext cx="166420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38528" y="3072384"/>
            <a:ext cx="676656" cy="676656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307238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44752" y="3822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444752" y="41879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08960" y="370332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-&gt;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37560" y="294436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2944368"/>
            <a:ext cx="166420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31336" y="3072384"/>
            <a:ext cx="676656" cy="676656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31336" y="307238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337560" y="3822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37560" y="41879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01768" y="370332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-&gt;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230368" y="294436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30368" y="2944368"/>
            <a:ext cx="166420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24144" y="3072384"/>
            <a:ext cx="676656" cy="676656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24144" y="307238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230368" y="3822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Search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30368" y="41879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similarity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94576" y="370332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-&gt;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123176" y="2944368"/>
            <a:ext cx="1664208" cy="1810512"/>
          </a:xfrm>
          <a:prstGeom prst="rect">
            <a:avLst/>
          </a:prstGeom>
          <a:solidFill>
            <a:srgbClr val="0D28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23176" y="2944368"/>
            <a:ext cx="166420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16952" y="3072384"/>
            <a:ext cx="676656" cy="676656"/>
          </a:xfrm>
          <a:prstGeom prst="ellipse">
            <a:avLst/>
          </a:prstGeom>
          <a:solidFill>
            <a:srgbClr val="D97706">
              <a:alpha val="2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16952" y="307238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123176" y="382219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123176" y="418795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references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38160" y="1353312"/>
            <a:ext cx="0" cy="1901952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973568" y="2057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 — THE TECHNOLOGY THAT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5029200" cy="640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95097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RAG Powerful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2064" y="1499616"/>
            <a:ext cx="73152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463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before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1737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guesses — it only answers from retrieved document chunks, eliminating hallucinations.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" y="2221992"/>
            <a:ext cx="73152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required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24597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documents anytime. FAISS re-indexes on demand — no fine-tuning, no model updates.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" y="2944368"/>
            <a:ext cx="73152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907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 built-in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31821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references source_file, page number, chunk_id, and a text snippet for verification.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" y="3666744"/>
            <a:ext cx="73152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6301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cost-efficient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39044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use HuggingFace all-MiniLM-L6-v2 locally. Only LLM inference touches the OpenAI API.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577840" y="822960"/>
            <a:ext cx="3200400" cy="4023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77840" y="822960"/>
            <a:ext cx="32004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87568" y="950976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vs Plain LLM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50992" y="14447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22008" y="14447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0" y="14447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50992" y="1764792"/>
            <a:ext cx="29443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50992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95160" y="1911096"/>
            <a:ext cx="676656" cy="256032"/>
          </a:xfrm>
          <a:prstGeom prst="ellipse">
            <a:avLst/>
          </a:prstGeom>
          <a:solidFill>
            <a:srgbClr val="047857">
              <a:alpha val="4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828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18288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50992" y="23317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your data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95160" y="2414016"/>
            <a:ext cx="676656" cy="256032"/>
          </a:xfrm>
          <a:prstGeom prst="ellipse">
            <a:avLst/>
          </a:prstGeom>
          <a:solidFill>
            <a:srgbClr val="047857">
              <a:alpha val="4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2331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72400" y="2331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50992" y="28346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95160" y="2916936"/>
            <a:ext cx="676656" cy="256032"/>
          </a:xfrm>
          <a:prstGeom prst="ellipse">
            <a:avLst/>
          </a:prstGeom>
          <a:solidFill>
            <a:srgbClr val="047857">
              <a:alpha val="4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2008" y="28346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28346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3337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current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995160" y="3419856"/>
            <a:ext cx="676656" cy="256032"/>
          </a:xfrm>
          <a:prstGeom prst="ellipse">
            <a:avLst/>
          </a:prstGeom>
          <a:solidFill>
            <a:srgbClr val="047857">
              <a:alpha val="4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33375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rebuild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3337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50992" y="3840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995160" y="3922776"/>
            <a:ext cx="676656" cy="256032"/>
          </a:xfrm>
          <a:prstGeom prst="ellipse">
            <a:avLst/>
          </a:prstGeom>
          <a:solidFill>
            <a:srgbClr val="047857">
              <a:alpha val="45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2008" y="3840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3840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310896"/>
          </a:xfrm>
          <a:prstGeom prst="rect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046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33856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33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1338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folder input, build button, Q&amp;A 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09344"/>
            <a:ext cx="8503920" cy="310896"/>
          </a:xfrm>
          <a:prstGeom prst="rect">
            <a:avLst/>
          </a:prstGeom>
          <a:solidFill>
            <a:srgbClr val="047857">
              <a:alpha val="22000"/>
            </a:srgbClr>
          </a:solidFill>
          <a:ln w="12700">
            <a:solidFill>
              <a:srgbClr val="04785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093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ORCHESTRATION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38528"/>
            <a:ext cx="54864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9385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Classic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9385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chunking, retriever 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340864"/>
            <a:ext cx="54864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23408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langchain-community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340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 for DOCX, CSV, unstructured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54864" cy="3840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2743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langchain-text-splitters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2743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&amp; overlap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8503920" cy="310896"/>
          </a:xfrm>
          <a:prstGeom prst="rect">
            <a:avLst/>
          </a:prstGeom>
          <a:solidFill>
            <a:srgbClr val="6D28D9">
              <a:alpha val="22000"/>
            </a:srgbClr>
          </a:solidFill>
          <a:ln w="12700">
            <a:solidFill>
              <a:srgbClr val="6D28D9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218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AI / EMBEDDINGS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54864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35478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all-MiniLM-L6-v2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5478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sentence embeddings — zero API cost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50208"/>
            <a:ext cx="54864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950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46120" y="39502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 grounded answer generation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425696"/>
            <a:ext cx="8503920" cy="310896"/>
          </a:xfrm>
          <a:prstGeom prst="rect">
            <a:avLst/>
          </a:prstGeom>
          <a:solidFill>
            <a:srgbClr val="D97706">
              <a:alpha val="22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4256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STORAGE &amp; PARSING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75488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47548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FAISS-CPU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46120" y="4754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index — fast top-k semantic search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5157216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" y="51572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pypdf, docx2txt, openpyxl, unstructured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46120" y="51572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document parsing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64008" cy="1828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" y="1042416"/>
            <a:ext cx="475488" cy="475488"/>
          </a:xfrm>
          <a:prstGeom prst="ellipse">
            <a:avLst/>
          </a:prstGeom>
          <a:solidFill>
            <a:srgbClr val="047857">
              <a:alpha val="88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042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0424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contracts, NDAs, and regulations. Instantly surface relevant clauses with source page.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84124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41248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1042416"/>
            <a:ext cx="475488" cy="475488"/>
          </a:xfrm>
          <a:prstGeom prst="ellipse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1042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10424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Onboarding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64992" y="159105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ask policy questions — the system retrieves exact handbook sections automatically.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841248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841248"/>
            <a:ext cx="64008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27064" y="1042416"/>
            <a:ext cx="475488" cy="475488"/>
          </a:xfrm>
          <a:prstGeom prst="ellipse">
            <a:avLst/>
          </a:prstGeom>
          <a:solidFill>
            <a:srgbClr val="D97706">
              <a:alpha val="8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042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10424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Audit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45352" y="159105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interrogate reports and spreadsheets: "What was EBITDA in Q3?" — cited answer.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871216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871216"/>
            <a:ext cx="64008" cy="18288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" y="3072384"/>
            <a:ext cx="475488" cy="475488"/>
          </a:xfrm>
          <a:prstGeom prst="ellipse">
            <a:avLst/>
          </a:prstGeom>
          <a:solidFill>
            <a:srgbClr val="6D28D9">
              <a:alpha val="88000"/>
            </a:srgbClr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3072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307238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Academia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4632" y="362102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across hundreds of papers or notes. Get summaries grounded in specific documents.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871216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871216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6704" y="3072384"/>
            <a:ext cx="475488" cy="475488"/>
          </a:xfrm>
          <a:prstGeom prst="ellipse">
            <a:avLst/>
          </a:prstGeom>
          <a:solidFill>
            <a:srgbClr val="0D9488">
              <a:alpha val="8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3072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307238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364992" y="362102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agents query product manuals and FAQs — answers backed by exact source snippets.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2871216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2871216"/>
            <a:ext cx="64008" cy="1828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3072384"/>
            <a:ext cx="475488" cy="475488"/>
          </a:xfrm>
          <a:prstGeom prst="ellipse">
            <a:avLst/>
          </a:prstGeom>
          <a:solidFill>
            <a:srgbClr val="047857">
              <a:alpha val="88000"/>
            </a:srgbClr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30723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3072384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DevOps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245352" y="3621024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runbooks, incident reports, and architecture docs without hunting through folders.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Outcomes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74904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8988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572768" y="1499616"/>
            <a:ext cx="0" cy="512064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43560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71907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strictly in retrieved context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374904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1284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572768" y="2322576"/>
            <a:ext cx="0" cy="512064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25856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54203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query across all document types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374904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3580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1572768" y="3145536"/>
            <a:ext cx="0" cy="512064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08152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3649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cost for vector generation — HuggingFace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3749040" cy="731520"/>
          </a:xfrm>
          <a:prstGeom prst="rect">
            <a:avLst/>
          </a:prstGeom>
          <a:solidFill>
            <a:srgbClr val="0D2840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58768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478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572768" y="3968496"/>
            <a:ext cx="0" cy="512064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904488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4187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source_file, page, chunk_id with every answer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804672"/>
            <a:ext cx="4069080" cy="3977640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804672"/>
            <a:ext cx="4069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9326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Demonstrates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28032" y="16002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6002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5504" y="15087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pipeline design and implementation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21031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103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75504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document ingestion and preprocessing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28032" y="26060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2606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75504" y="2514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architecture (FAISS) and semantic search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28032" y="31089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75504" y="3017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with LangChain for production use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28032" y="36118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6118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5504" y="35204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strictly grounded responses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28032" y="41148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1148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75504" y="40233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deployment with Streamlit UI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81728"/>
            <a:ext cx="82296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github.com/Sajalagarwal-ca/RAG-Document-reader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Assistant RAG - Document Intelligence</dc:title>
  <dc:subject>PptxGenJS Presentation</dc:subject>
  <dc:creator>Sajal Agarwal</dc:creator>
  <cp:lastModifiedBy>Sajal Agarwal</cp:lastModifiedBy>
  <cp:revision>1</cp:revision>
  <dcterms:created xsi:type="dcterms:W3CDTF">2026-03-13T22:48:41Z</dcterms:created>
  <dcterms:modified xsi:type="dcterms:W3CDTF">2026-03-13T22:48:41Z</dcterms:modified>
</cp:coreProperties>
</file>